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DM Sans SemiBold"/>
      <p:regular r:id="rId201314"/>
    </p:embeddedFont>
    <p:embeddedFont>
      <p:font typeface="Inter Medium"/>
      <p:regular r:id="rId201315"/>
    </p:embeddedFont>
    <p:embeddedFont>
      <p:font typeface="Inter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714018"/>
            <a:ext cx="728961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F28C2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POWER BI ANALYSIS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31789" y="1102123"/>
            <a:ext cx="6857828" cy="386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Quick-Commerce</a:t>
            </a:r>
            <a:endParaRPr lang="en-US" sz="7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Performance Dashboard</a:t>
            </a:r>
            <a:endParaRPr lang="en-US" sz="7600" dirty="0"/>
          </a:p>
        </p:txBody>
      </p:sp>
      <p:sp>
        <p:nvSpPr>
          <p:cNvPr id="5" name="Shape 3"/>
          <p:cNvSpPr/>
          <p:nvPr/>
        </p:nvSpPr>
        <p:spPr>
          <a:xfrm>
            <a:off x="431789" y="5194995"/>
            <a:ext cx="1714457" cy="38100"/>
          </a:xfrm>
          <a:prstGeom prst="roundRect">
            <a:avLst>
              <a:gd name="adj" fmla="val 49999"/>
            </a:avLst>
          </a:prstGeom>
          <a:solidFill>
            <a:srgbClr val="F28C28"/>
          </a:solidFill>
          <a:ln/>
        </p:spPr>
      </p:sp>
      <p:sp>
        <p:nvSpPr>
          <p:cNvPr id="6" name="Text 4"/>
          <p:cNvSpPr/>
          <p:nvPr/>
        </p:nvSpPr>
        <p:spPr>
          <a:xfrm>
            <a:off x="431789" y="5469696"/>
            <a:ext cx="6857828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 BI analysis of delivery reliability, customer experience, and revenue drivers.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102B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3" y="2333923"/>
            <a:ext cx="431789" cy="43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73803" y="2950190"/>
            <a:ext cx="388610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Delivery reliability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803" y="3383558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73803" y="3936325"/>
            <a:ext cx="171445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experience</a:t>
            </a:r>
            <a:endParaRPr lang="en-US" sz="1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5449" y="3383558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45449" y="3936325"/>
            <a:ext cx="171445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Revenue drivers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991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Quick-Commerce Performance Dashboard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7987" y="691991"/>
            <a:ext cx="1168370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F28C2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BUSINESS PROBLEM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7987" y="1030438"/>
            <a:ext cx="11175720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88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business problem is a promise problem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7987" y="2373662"/>
            <a:ext cx="11683708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Quick-commerce companies promise delivery in 15–25 minutes.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7987" y="3443684"/>
            <a:ext cx="5073126" cy="2677716"/>
          </a:xfrm>
          <a:prstGeom prst="rect">
            <a:avLst/>
          </a:prstGeom>
          <a:solidFill>
            <a:srgbClr val="16365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4054971"/>
            <a:ext cx="431789" cy="43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2780" y="4675049"/>
            <a:ext cx="446354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15–25 minutes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12780" y="5207944"/>
            <a:ext cx="476833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promise customers are asked to trust.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885807" y="3443684"/>
            <a:ext cx="5797901" cy="2677716"/>
          </a:xfrm>
          <a:prstGeom prst="rect">
            <a:avLst/>
          </a:prstGeom>
          <a:solidFill>
            <a:srgbClr val="16365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599" y="3748484"/>
            <a:ext cx="431789" cy="431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90599" y="4368562"/>
            <a:ext cx="518831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Management needs visibility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190599" y="4901458"/>
            <a:ext cx="5188316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Which cities and stores miss the promise, when delays peak, which segments drive revenue, and how delays affect ratings.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11365720" y="6583859"/>
            <a:ext cx="825975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991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Quick-Commerce Performance Dashboard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666591"/>
            <a:ext cx="1165830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F28C2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FOUNDATION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87" y="1005038"/>
            <a:ext cx="11124922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88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One order fact table connects operations to growth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33387" y="2656284"/>
            <a:ext cx="2804050" cy="3515916"/>
          </a:xfrm>
          <a:prstGeom prst="rect">
            <a:avLst/>
          </a:prstGeom>
          <a:solidFill>
            <a:srgbClr val="16365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3182045"/>
            <a:ext cx="431789" cy="43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1981" y="3802122"/>
            <a:ext cx="234686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Dark-stores dimension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1981" y="4731198"/>
            <a:ext cx="234686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31 stores with capacity and store details.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642130" y="2656284"/>
            <a:ext cx="4907336" cy="3515916"/>
          </a:xfrm>
          <a:prstGeom prst="rect">
            <a:avLst/>
          </a:prstGeom>
          <a:solidFill>
            <a:srgbClr val="F28C2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922" y="2961084"/>
            <a:ext cx="431789" cy="431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46922" y="3634184"/>
            <a:ext cx="4297751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56" kern="100" dirty="0">
                <a:solidFill>
                  <a:srgbClr val="0B1F3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8,000</a:t>
            </a:r>
            <a:endParaRPr lang="en-US" sz="5200" dirty="0"/>
          </a:p>
        </p:txBody>
      </p:sp>
      <p:sp>
        <p:nvSpPr>
          <p:cNvPr id="13" name="Text 9"/>
          <p:cNvSpPr/>
          <p:nvPr/>
        </p:nvSpPr>
        <p:spPr>
          <a:xfrm>
            <a:off x="3946922" y="4419362"/>
            <a:ext cx="429775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Orders table rows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946922" y="4952258"/>
            <a:ext cx="4297751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Order timing, store, category, customer segment, revenue, delivery times, status, rating, and partner fields.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854159" y="2656284"/>
            <a:ext cx="2804149" cy="3515916"/>
          </a:xfrm>
          <a:prstGeom prst="rect">
            <a:avLst/>
          </a:prstGeom>
          <a:solidFill>
            <a:srgbClr val="16365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753" y="3226891"/>
            <a:ext cx="431789" cy="431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2753" y="3846969"/>
            <a:ext cx="234696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Rating logic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9082753" y="4379865"/>
            <a:ext cx="2346961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Ratings remain blank for cancelled orders rather than being treated as zero.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11363934" y="6583859"/>
            <a:ext cx="82776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991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Quick-Commerce Performance Dashboard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666591"/>
            <a:ext cx="1165830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F28C2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 TO DECISION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87" y="1005038"/>
            <a:ext cx="11124922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88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model turns raw orders into a decision system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33387" y="2848173"/>
            <a:ext cx="3505112" cy="3374827"/>
          </a:xfrm>
          <a:prstGeom prst="rect">
            <a:avLst/>
          </a:prstGeom>
          <a:solidFill>
            <a:srgbClr val="16365D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" y="3076773"/>
            <a:ext cx="304792" cy="304800"/>
          </a:xfrm>
          <a:prstGeom prst="rect">
            <a:avLst/>
          </a:prstGeom>
          <a:solidFill>
            <a:srgbClr val="127A53"/>
          </a:solidFill>
          <a:ln/>
        </p:spPr>
      </p:sp>
      <p:sp>
        <p:nvSpPr>
          <p:cNvPr id="8" name="Text 6"/>
          <p:cNvSpPr/>
          <p:nvPr/>
        </p:nvSpPr>
        <p:spPr>
          <a:xfrm>
            <a:off x="804346" y="3127573"/>
            <a:ext cx="82954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387" y="3467894"/>
            <a:ext cx="3505112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10" name="Text 8"/>
          <p:cNvSpPr/>
          <p:nvPr/>
        </p:nvSpPr>
        <p:spPr>
          <a:xfrm>
            <a:off x="761981" y="3626902"/>
            <a:ext cx="30479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1981" y="4159798"/>
            <a:ext cx="304792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Clean types and preserve cancelled-order rating blanks in Power Query.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3291" y="2848173"/>
            <a:ext cx="3505112" cy="3374827"/>
          </a:xfrm>
          <a:prstGeom prst="rect">
            <a:avLst/>
          </a:prstGeom>
          <a:solidFill>
            <a:srgbClr val="16365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1886" y="3076773"/>
            <a:ext cx="304792" cy="304800"/>
          </a:xfrm>
          <a:prstGeom prst="rect">
            <a:avLst/>
          </a:prstGeom>
          <a:solidFill>
            <a:srgbClr val="127A53"/>
          </a:solidFill>
          <a:ln/>
        </p:spPr>
      </p:sp>
      <p:sp>
        <p:nvSpPr>
          <p:cNvPr id="14" name="Text 12"/>
          <p:cNvSpPr/>
          <p:nvPr/>
        </p:nvSpPr>
        <p:spPr>
          <a:xfrm>
            <a:off x="4593912" y="3127573"/>
            <a:ext cx="87022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43291" y="3467894"/>
            <a:ext cx="3505112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1886" y="3626902"/>
            <a:ext cx="30479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Relate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1886" y="4159798"/>
            <a:ext cx="304792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Relate stores one-to-many to orders and connect a dedicated 2026 Date table.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53196" y="2848173"/>
            <a:ext cx="3505112" cy="3374827"/>
          </a:xfrm>
          <a:prstGeom prst="rect">
            <a:avLst/>
          </a:prstGeom>
          <a:solidFill>
            <a:srgbClr val="16365D"/>
          </a:solidFill>
          <a:ln/>
        </p:spPr>
      </p:sp>
      <p:sp>
        <p:nvSpPr>
          <p:cNvPr id="19" name="Shape 17"/>
          <p:cNvSpPr/>
          <p:nvPr/>
        </p:nvSpPr>
        <p:spPr>
          <a:xfrm>
            <a:off x="8381790" y="3076773"/>
            <a:ext cx="304792" cy="304800"/>
          </a:xfrm>
          <a:prstGeom prst="rect">
            <a:avLst/>
          </a:prstGeom>
          <a:solidFill>
            <a:srgbClr val="127A53"/>
          </a:solidFill>
          <a:ln/>
        </p:spPr>
      </p:sp>
      <p:sp>
        <p:nvSpPr>
          <p:cNvPr id="20" name="Text 18"/>
          <p:cNvSpPr/>
          <p:nvPr/>
        </p:nvSpPr>
        <p:spPr>
          <a:xfrm>
            <a:off x="8402527" y="3127573"/>
            <a:ext cx="8729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53196" y="3467894"/>
            <a:ext cx="3505112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22" name="Text 20"/>
          <p:cNvSpPr/>
          <p:nvPr/>
        </p:nvSpPr>
        <p:spPr>
          <a:xfrm>
            <a:off x="8381790" y="3626902"/>
            <a:ext cx="30479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Measure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381790" y="4159798"/>
            <a:ext cx="3047924" cy="183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Build measures for orders, revenue, discounts, delivery time, on-time rate, delays, cancellations, ratings, month-over-month revenue, and utilisation.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358874" y="6583859"/>
            <a:ext cx="83282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991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Quick-Commerce Performance Dashboard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641191"/>
            <a:ext cx="1165830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F28C2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REPORT PAGE 01 · EXECUTIVE OVERVIEW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87" y="979638"/>
            <a:ext cx="11124922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88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Executive overview puts the health of the business in one view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33387" y="2324894"/>
            <a:ext cx="1727157" cy="1764506"/>
          </a:xfrm>
          <a:prstGeom prst="roundRect">
            <a:avLst>
              <a:gd name="adj" fmla="val 12353"/>
            </a:avLst>
          </a:prstGeom>
          <a:solidFill>
            <a:srgbClr val="16365D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2481342"/>
            <a:ext cx="160016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0383" y="3108722"/>
            <a:ext cx="147316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56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TBD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412940" y="2324894"/>
            <a:ext cx="1727157" cy="1764506"/>
          </a:xfrm>
          <a:prstGeom prst="roundRect">
            <a:avLst>
              <a:gd name="adj" fmla="val 12353"/>
            </a:avLst>
          </a:prstGeom>
          <a:solidFill>
            <a:srgbClr val="16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539936" y="2481342"/>
            <a:ext cx="160016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39936" y="3108722"/>
            <a:ext cx="147316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56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TBD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4292493" y="2324894"/>
            <a:ext cx="1727157" cy="1764506"/>
          </a:xfrm>
          <a:prstGeom prst="roundRect">
            <a:avLst>
              <a:gd name="adj" fmla="val 12353"/>
            </a:avLst>
          </a:prstGeom>
          <a:solidFill>
            <a:srgbClr val="16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419489" y="2481342"/>
            <a:ext cx="1473163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Order Value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19489" y="3340100"/>
            <a:ext cx="147316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56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TBD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6172046" y="2324894"/>
            <a:ext cx="1727157" cy="1764506"/>
          </a:xfrm>
          <a:prstGeom prst="roundRect">
            <a:avLst>
              <a:gd name="adj" fmla="val 12353"/>
            </a:avLst>
          </a:prstGeom>
          <a:solidFill>
            <a:srgbClr val="F28C28"/>
          </a:solidFill>
          <a:ln/>
        </p:spPr>
      </p:sp>
      <p:sp>
        <p:nvSpPr>
          <p:cNvPr id="16" name="Text 14"/>
          <p:cNvSpPr/>
          <p:nvPr/>
        </p:nvSpPr>
        <p:spPr>
          <a:xfrm>
            <a:off x="6299042" y="2481342"/>
            <a:ext cx="160016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On-Time %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99042" y="3108722"/>
            <a:ext cx="147316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56" kern="100" dirty="0">
                <a:solidFill>
                  <a:srgbClr val="0B1F3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TBD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8051599" y="2324894"/>
            <a:ext cx="1727157" cy="1764506"/>
          </a:xfrm>
          <a:prstGeom prst="roundRect">
            <a:avLst>
              <a:gd name="adj" fmla="val 12353"/>
            </a:avLst>
          </a:prstGeom>
          <a:solidFill>
            <a:srgbClr val="16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8178595" y="2481342"/>
            <a:ext cx="160016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Rating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78595" y="3108722"/>
            <a:ext cx="147316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56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TBD</a:t>
            </a:r>
            <a:endParaRPr lang="en-US" sz="5200" dirty="0"/>
          </a:p>
        </p:txBody>
      </p:sp>
      <p:sp>
        <p:nvSpPr>
          <p:cNvPr id="21" name="Shape 19"/>
          <p:cNvSpPr/>
          <p:nvPr/>
        </p:nvSpPr>
        <p:spPr>
          <a:xfrm>
            <a:off x="9931152" y="2324894"/>
            <a:ext cx="1727157" cy="1764506"/>
          </a:xfrm>
          <a:prstGeom prst="roundRect">
            <a:avLst>
              <a:gd name="adj" fmla="val 12353"/>
            </a:avLst>
          </a:prstGeom>
          <a:solidFill>
            <a:srgbClr val="16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148" y="2481342"/>
            <a:ext cx="160016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Cancellation %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148" y="3108722"/>
            <a:ext cx="147316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56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TBD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533387" y="4408289"/>
            <a:ext cx="11124922" cy="1930995"/>
          </a:xfrm>
          <a:prstGeom prst="rect">
            <a:avLst/>
          </a:prstGeom>
          <a:solidFill>
            <a:srgbClr val="102B4F"/>
          </a:solidFill>
          <a:ln/>
        </p:spPr>
      </p:sp>
      <p:sp>
        <p:nvSpPr>
          <p:cNvPr id="25" name="Text 23"/>
          <p:cNvSpPr/>
          <p:nvPr/>
        </p:nvSpPr>
        <p:spPr>
          <a:xfrm>
            <a:off x="761981" y="4592757"/>
            <a:ext cx="335271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Monthly revenue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1981" y="5030442"/>
            <a:ext cx="3352716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AFC5D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visual pending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419489" y="4592757"/>
            <a:ext cx="335271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City revenue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19489" y="5030442"/>
            <a:ext cx="3352716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AFC5D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visual pending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076998" y="4592757"/>
            <a:ext cx="33527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Category mix · Segment volume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076998" y="5327602"/>
            <a:ext cx="3352716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AFC5D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visuals pending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61981" y="5807571"/>
            <a:ext cx="4913884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32" name="Text 30"/>
          <p:cNvSpPr/>
          <p:nvPr/>
        </p:nvSpPr>
        <p:spPr>
          <a:xfrm>
            <a:off x="891458" y="5882803"/>
            <a:ext cx="526451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Month · City · Category slicers synced across the report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368002" y="6583859"/>
            <a:ext cx="8236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991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Quick-Commerce Performance Dashboard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463391"/>
            <a:ext cx="1165830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F28C2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REPORT PAGE 02 · DELIVERY PERFORMANCE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87" y="801838"/>
            <a:ext cx="11124922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88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Delivery performance reveals where the promise breaks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33387" y="2140744"/>
            <a:ext cx="3246059" cy="4111526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7" name="Text 5"/>
          <p:cNvSpPr/>
          <p:nvPr/>
        </p:nvSpPr>
        <p:spPr>
          <a:xfrm>
            <a:off x="736582" y="2347992"/>
            <a:ext cx="3042864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On-Time % target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6582" y="2845198"/>
            <a:ext cx="2839669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100" dirty="0">
                <a:solidFill>
                  <a:srgbClr val="0B1F3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80%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736582" y="3919490"/>
            <a:ext cx="2839669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Compare the validated result against the target.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084138" y="2140744"/>
            <a:ext cx="7574170" cy="4111526"/>
          </a:xfrm>
          <a:prstGeom prst="rect">
            <a:avLst/>
          </a:prstGeom>
          <a:solidFill>
            <a:srgbClr val="16365D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6535" y="2293144"/>
            <a:ext cx="431789" cy="431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36535" y="2845911"/>
            <a:ext cx="726937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delivery time by city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535" y="3279279"/>
            <a:ext cx="431789" cy="431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36535" y="3832046"/>
            <a:ext cx="340609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Delay rate by hour</a:t>
            </a:r>
            <a:endParaRPr lang="en-US" sz="1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818" y="3279279"/>
            <a:ext cx="431789" cy="431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9818" y="3832046"/>
            <a:ext cx="340609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Top 10 delayed-store table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099818" y="4269732"/>
            <a:ext cx="340609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visual pending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099818" y="4756368"/>
            <a:ext cx="340609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City-by-weekday delay heat map · Store scatter plot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099818" y="5491214"/>
            <a:ext cx="3406094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AFC5D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Move from symptom to root cause.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6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991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Quick-Commerce Performance Dashboard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641191"/>
            <a:ext cx="1165830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F28C2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REPORT PAGE 03 · CUSTOMER AND REVENUE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87" y="979638"/>
            <a:ext cx="11124922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88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and revenue views show the cost of service friction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33387" y="3391198"/>
            <a:ext cx="3855643" cy="2831802"/>
          </a:xfrm>
          <a:prstGeom prst="rect">
            <a:avLst/>
          </a:prstGeom>
          <a:solidFill>
            <a:srgbClr val="16365D"/>
          </a:solidFill>
          <a:ln/>
        </p:spPr>
      </p:sp>
      <p:sp>
        <p:nvSpPr>
          <p:cNvPr id="7" name="Text 5"/>
          <p:cNvSpPr/>
          <p:nvPr/>
        </p:nvSpPr>
        <p:spPr>
          <a:xfrm>
            <a:off x="761981" y="3630275"/>
            <a:ext cx="339845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experience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1981" y="4163171"/>
            <a:ext cx="3398455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rating by delivery status to test whether delayed orders earn weaker feedback.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1981" y="5310088"/>
            <a:ext cx="849490" cy="38100"/>
          </a:xfrm>
          <a:prstGeom prst="roundRect">
            <a:avLst>
              <a:gd name="adj" fmla="val 49999"/>
            </a:avLst>
          </a:prstGeom>
          <a:solidFill>
            <a:srgbClr val="F28C28"/>
          </a:solidFill>
          <a:ln/>
        </p:spPr>
      </p:sp>
      <p:sp>
        <p:nvSpPr>
          <p:cNvPr id="10" name="Text 8"/>
          <p:cNvSpPr/>
          <p:nvPr/>
        </p:nvSpPr>
        <p:spPr>
          <a:xfrm>
            <a:off x="761981" y="5584011"/>
            <a:ext cx="362704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AFC5D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visual pending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93723" y="3391198"/>
            <a:ext cx="3855743" cy="2831802"/>
          </a:xfrm>
          <a:prstGeom prst="rect">
            <a:avLst/>
          </a:prstGeom>
          <a:solidFill>
            <a:srgbClr val="16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4922317" y="3630275"/>
            <a:ext cx="339855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Revenue views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22317" y="4163171"/>
            <a:ext cx="339855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Payment mix by customer segment, category revenue, and discount rate by segment.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922317" y="5310088"/>
            <a:ext cx="849490" cy="38100"/>
          </a:xfrm>
          <a:prstGeom prst="roundRect">
            <a:avLst>
              <a:gd name="adj" fmla="val 49999"/>
            </a:avLst>
          </a:prstGeom>
          <a:solidFill>
            <a:srgbClr val="F28C28"/>
          </a:solidFill>
          <a:ln/>
        </p:spPr>
      </p:sp>
      <p:sp>
        <p:nvSpPr>
          <p:cNvPr id="15" name="Text 13"/>
          <p:cNvSpPr/>
          <p:nvPr/>
        </p:nvSpPr>
        <p:spPr>
          <a:xfrm>
            <a:off x="4922317" y="5584011"/>
            <a:ext cx="3627148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AFC5D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visuals pending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854159" y="3391198"/>
            <a:ext cx="2804149" cy="2831802"/>
          </a:xfrm>
          <a:prstGeom prst="rect">
            <a:avLst/>
          </a:prstGeom>
          <a:solidFill>
            <a:srgbClr val="F28C28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2753" y="3619798"/>
            <a:ext cx="431789" cy="431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082753" y="4239875"/>
            <a:ext cx="234696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Delay drivers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082753" y="4772771"/>
            <a:ext cx="2346961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Decomposition by City → Store → Hour to isolate the operational drivers of delay.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11376832" y="6583859"/>
            <a:ext cx="81486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991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Quick-Commerce Performance Dashboard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641191"/>
            <a:ext cx="1165830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F28C2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VALIDATION AGENDA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387" y="979638"/>
            <a:ext cx="11124922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88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dashboard should test four operating hypotheses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33387" y="2318544"/>
            <a:ext cx="5410065" cy="3537645"/>
          </a:xfrm>
          <a:prstGeom prst="rect">
            <a:avLst/>
          </a:prstGeom>
          <a:solidFill>
            <a:srgbClr val="16365D"/>
          </a:solidFill>
          <a:ln/>
        </p:spPr>
      </p:sp>
      <p:sp>
        <p:nvSpPr>
          <p:cNvPr id="7" name="Text 5"/>
          <p:cNvSpPr/>
          <p:nvPr/>
        </p:nvSpPr>
        <p:spPr>
          <a:xfrm>
            <a:off x="761981" y="2557621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Peak-hour delays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1981" y="3090517"/>
            <a:ext cx="495287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Delays cluster around lunch and dinner when preparation time rises.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1981" y="3887450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Service friction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1981" y="4420346"/>
            <a:ext cx="495287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Delayed orders may receive lower ratings, while new customers may receive higher discounts.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8244" y="2318544"/>
            <a:ext cx="5410065" cy="3537645"/>
          </a:xfrm>
          <a:prstGeom prst="rect">
            <a:avLst/>
          </a:prstGeom>
          <a:solidFill>
            <a:srgbClr val="16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6476838" y="2557621"/>
            <a:ext cx="495287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density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76838" y="3090517"/>
            <a:ext cx="495287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D8E5F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Metro cities may carry longer delivery times, while lower-density markets may be faster.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76838" y="3813473"/>
            <a:ext cx="4952876" cy="1814116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5" name="Text 13"/>
          <p:cNvSpPr/>
          <p:nvPr/>
        </p:nvSpPr>
        <p:spPr>
          <a:xfrm>
            <a:off x="6654634" y="4001750"/>
            <a:ext cx="459728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Validation rule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54634" y="4534646"/>
            <a:ext cx="4597285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B1F3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Validate every hypothesis against the completed visuals before presenting it as a result.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2026-10-12T07:00:23Z</dcterms:created>
  <dcterms:modified xsi:type="dcterms:W3CDTF">2026-10-12T07:00:23Z</dcterms:modified>
</cp:coreProperties>
</file>